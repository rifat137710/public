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Theme: Sustainable Smart Cities and Urban Innovation. Bus 18 is a browser-based simulation trainer built on the IEEE 33-bus benchmark distribution feeder.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beat. This result comes from the underlying B.Sc. thesis and is reproduced live in the browser on the public benchmark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6 is a procurement table, not a simulation run. It is where the entry lands its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strong-feeder minimum voltage and loss are published Baran-Wu values that nothing in the model was fitted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blanks are filled from the tester study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METAVERSE GRAND CHALLENGE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Smart Cities and Urban Innovation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D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18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268833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3A6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weak rural feeder, 287 electric cars, and a voltage band you are not allowed to leave.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3814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trainer that teaches operators to distrust a safety number until they have seen what it cost in service.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26864"/>
            <a:ext cx="201168" cy="201168"/>
          </a:xfrm>
          <a:prstGeom prst="ellipse">
            <a:avLst/>
          </a:prstGeom>
          <a:solidFill>
            <a:srgbClr val="E3B24F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4626864"/>
            <a:ext cx="201168" cy="201168"/>
          </a:xfrm>
          <a:prstGeom prst="ellipse">
            <a:avLst/>
          </a:prstGeom>
          <a:solidFill>
            <a:srgbClr val="E3B24F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4626864"/>
            <a:ext cx="201168" cy="201168"/>
          </a:xfrm>
          <a:prstGeom prst="ellipse">
            <a:avLst/>
          </a:prstGeom>
          <a:solidFill>
            <a:srgbClr val="E3B24F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29968" y="4626864"/>
            <a:ext cx="201168" cy="201168"/>
          </a:xfrm>
          <a:prstGeom prst="ellipse">
            <a:avLst/>
          </a:prstGeom>
          <a:solidFill>
            <a:srgbClr val="E3B24F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32304" y="4626864"/>
            <a:ext cx="201168" cy="201168"/>
          </a:xfrm>
          <a:prstGeom prst="ellipse">
            <a:avLst/>
          </a:prstGeom>
          <a:solidFill>
            <a:srgbClr val="E3B24F">
              <a:alpha val="7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4626864"/>
            <a:ext cx="201168" cy="201168"/>
          </a:xfrm>
          <a:prstGeom prst="ellipse">
            <a:avLst/>
          </a:prstGeom>
          <a:solidFill>
            <a:srgbClr val="E3B24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36976" y="4626864"/>
            <a:ext cx="201168" cy="201168"/>
          </a:xfrm>
          <a:prstGeom prst="ellipse">
            <a:avLst/>
          </a:prstGeom>
          <a:solidFill>
            <a:srgbClr val="E3B24F">
              <a:alpha val="6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39312" y="4626864"/>
            <a:ext cx="201168" cy="201168"/>
          </a:xfrm>
          <a:prstGeom prst="ellipse">
            <a:avLst/>
          </a:prstGeom>
          <a:solidFill>
            <a:srgbClr val="E3B24F">
              <a:alpha val="5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41648" y="4626864"/>
            <a:ext cx="201168" cy="201168"/>
          </a:xfrm>
          <a:prstGeom prst="ellipse">
            <a:avLst/>
          </a:prstGeom>
          <a:solidFill>
            <a:srgbClr val="E3B24F">
              <a:alpha val="5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43984" y="4626864"/>
            <a:ext cx="201168" cy="201168"/>
          </a:xfrm>
          <a:prstGeom prst="ellipse">
            <a:avLst/>
          </a:prstGeom>
          <a:solidFill>
            <a:srgbClr val="E3B24F">
              <a:alpha val="4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4626864"/>
            <a:ext cx="201168" cy="201168"/>
          </a:xfrm>
          <a:prstGeom prst="ellipse">
            <a:avLst/>
          </a:prstGeom>
          <a:solidFill>
            <a:srgbClr val="E4776B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48656" y="4626864"/>
            <a:ext cx="201168" cy="201168"/>
          </a:xfrm>
          <a:prstGeom prst="ellipse">
            <a:avLst/>
          </a:prstGeom>
          <a:solidFill>
            <a:srgbClr val="E4776B">
              <a:alpha val="3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50992" y="4626864"/>
            <a:ext cx="201168" cy="201168"/>
          </a:xfrm>
          <a:prstGeom prst="ellipse">
            <a:avLst/>
          </a:prstGeom>
          <a:solidFill>
            <a:srgbClr val="E4776B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53328" y="4626864"/>
            <a:ext cx="201168" cy="201168"/>
          </a:xfrm>
          <a:prstGeom prst="ellipse">
            <a:avLst/>
          </a:prstGeom>
          <a:solidFill>
            <a:srgbClr val="E4776B">
              <a:alpha val="2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901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9011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18 — the far 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1572768"/>
            <a:ext cx="2606040" cy="2304288"/>
          </a:xfrm>
          <a:prstGeom prst="roundRect">
            <a:avLst>
              <a:gd name="adj" fmla="val 238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1810512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33-bus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Baran–Wu feeder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backward/forward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power flow —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animation.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705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Rifat Rahman  ·  BUET EEE  ·  solo entrant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5705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rifat137710.github.io/Public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D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network lost to a rule from 1547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38988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EV charging on a weak feeder pulls voltage down hardest where people are furthest from the substation. Two objectives pull against each other: keep the grid legal, and get everybody charged.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615184"/>
            <a:ext cx="155448" cy="155448"/>
          </a:xfrm>
          <a:prstGeom prst="ellipse">
            <a:avLst/>
          </a:prstGeom>
          <a:solidFill>
            <a:srgbClr val="E4776B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charges at once.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41648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0.319 illegal · 0.983 served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401568"/>
            <a:ext cx="155448" cy="155448"/>
          </a:xfrm>
          <a:prstGeom prst="ellipse">
            <a:avLst/>
          </a:prstGeom>
          <a:solidFill>
            <a:srgbClr val="93A6B3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1547 droop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watches its own bus.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41648" y="3328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 illegal · 0.564 served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87952"/>
            <a:ext cx="155448" cy="155448"/>
          </a:xfrm>
          <a:prstGeom prst="ellipse">
            <a:avLst/>
          </a:prstGeom>
          <a:solidFill>
            <a:srgbClr val="E4776B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856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deep RL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4334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state, millions of steps.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41648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0.057 illegal · 0.265 served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74336"/>
            <a:ext cx="155448" cy="1554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856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physics in the loop.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41648" y="4901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 illegal · 0.554 served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417320"/>
            <a:ext cx="4983480" cy="4297680"/>
          </a:xfrm>
          <a:prstGeom prst="rect">
            <a:avLst/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527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→  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4937760"/>
            <a:ext cx="4206240" cy="0"/>
          </a:xfrm>
          <a:prstGeom prst="line">
            <a:avLst/>
          </a:prstGeom>
          <a:noFill/>
          <a:ln w="12700">
            <a:solidFill>
              <a:srgbClr val="2532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8280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3406140"/>
            <a:ext cx="4206240" cy="0"/>
          </a:xfrm>
          <a:prstGeom prst="line">
            <a:avLst/>
          </a:prstGeom>
          <a:noFill/>
          <a:ln w="12700">
            <a:solidFill>
              <a:srgbClr val="2532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2964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874520"/>
            <a:ext cx="4206240" cy="0"/>
          </a:xfrm>
          <a:prstGeom prst="line">
            <a:avLst/>
          </a:prstGeom>
          <a:noFill/>
          <a:ln w="12700">
            <a:solidFill>
              <a:srgbClr val="2532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76479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45967" y="1835155"/>
            <a:ext cx="182880" cy="182880"/>
          </a:xfrm>
          <a:prstGeom prst="ellipse">
            <a:avLst/>
          </a:prstGeom>
          <a:solidFill>
            <a:srgbClr val="E4776B"/>
          </a:solidFill>
          <a:ln/>
        </p:spPr>
      </p:sp>
      <p:sp>
        <p:nvSpPr>
          <p:cNvPr id="29" name="Text 27"/>
          <p:cNvSpPr/>
          <p:nvPr/>
        </p:nvSpPr>
        <p:spPr>
          <a:xfrm>
            <a:off x="9548687" y="2018035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53082" y="3118653"/>
            <a:ext cx="182880" cy="182880"/>
          </a:xfrm>
          <a:prstGeom prst="ellipse">
            <a:avLst/>
          </a:prstGeom>
          <a:solidFill>
            <a:srgbClr val="93A6B3"/>
          </a:solidFill>
          <a:ln/>
        </p:spPr>
      </p:sp>
      <p:sp>
        <p:nvSpPr>
          <p:cNvPr id="31" name="Text 29"/>
          <p:cNvSpPr/>
          <p:nvPr/>
        </p:nvSpPr>
        <p:spPr>
          <a:xfrm>
            <a:off x="7609114" y="331982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7296" y="4034561"/>
            <a:ext cx="182880" cy="182880"/>
          </a:xfrm>
          <a:prstGeom prst="ellipse">
            <a:avLst/>
          </a:prstGeom>
          <a:solidFill>
            <a:srgbClr val="E4776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1616" y="414428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4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deep RL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04565" y="3149285"/>
            <a:ext cx="182880" cy="182880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35" name="Text 33"/>
          <p:cNvSpPr/>
          <p:nvPr/>
        </p:nvSpPr>
        <p:spPr>
          <a:xfrm>
            <a:off x="7114293" y="2874965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SafeSAC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5084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rate  →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served  ↑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29400" y="53766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deep RL sits below and to the right of a rule written down in a standards document — beaten on safety and on service at once.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59436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B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was not the missing ingredient. The physics was.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D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stages. You fail first.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is the pedagogy. Nobody is impressed by a solution to a problem they have not personally felt, so the learner runs the feeder — and fails — before they see a single controller.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84832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2322576"/>
            <a:ext cx="384048" cy="3840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23500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28712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stations, no safety layer, 287 cars. Almost nobody threads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2084832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2322576"/>
            <a:ext cx="384048" cy="3840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3500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02352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8712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charges on plug-in. Service without safety.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82128" y="2084832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2322576"/>
            <a:ext cx="384048" cy="3840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23500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31936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1547 droop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19872" y="28712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answer. Safety bought by refusing to operate.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3895344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" y="4133088"/>
            <a:ext cx="384048" cy="3840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41605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72768" y="41696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deep RL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0704" y="46817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modern answer, and it loses. The credibility beat.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2544" y="3895344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4133088"/>
            <a:ext cx="384048" cy="384048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41605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02352" y="41696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restored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0288" y="46817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projection onto what the live network can survive.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82128" y="3895344"/>
            <a:ext cx="3200400" cy="1554480"/>
          </a:xfrm>
          <a:prstGeom prst="roundRect">
            <a:avLst>
              <a:gd name="adj" fmla="val 2941"/>
            </a:avLst>
          </a:prstGeom>
          <a:solidFill>
            <a:srgbClr val="1B2733"/>
          </a:solidFill>
          <a:ln w="12700">
            <a:solidFill>
              <a:srgbClr val="E3B2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4133088"/>
            <a:ext cx="384048" cy="384048"/>
          </a:xfrm>
          <a:prstGeom prst="ellipse">
            <a:avLst/>
          </a:prstGeom>
          <a:solidFill>
            <a:srgbClr val="E3B24F"/>
          </a:solidFill>
          <a:ln/>
        </p:spPr>
      </p:sp>
      <p:sp>
        <p:nvSpPr>
          <p:cNvPr id="31" name="Text 29"/>
          <p:cNvSpPr/>
          <p:nvPr/>
        </p:nvSpPr>
        <p:spPr>
          <a:xfrm>
            <a:off x="8119872" y="41605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31936" y="41696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19872" y="46817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to deploy — from the two columns a manager gets handed.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" y="5797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B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means the world itself: grab a charging station where it stands in the village and drag it, and a real power flow re-solves across all 33 buses.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D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physics, in a browser tab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install, no headset. Runs on a phone. Every number on screen is computed live from the benchmark network — nothing is pre-rendered.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1316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b="1" spc="120" kern="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PUBLISHED VALUES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spc="120" kern="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TUNED 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139696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066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237744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Backward/forward sweep on the radial IEEE 33-bus feeder. 288 steps per simulated day.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139696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9" name="Text 7"/>
          <p:cNvSpPr/>
          <p:nvPr/>
        </p:nvSpPr>
        <p:spPr>
          <a:xfrm>
            <a:off x="6483096" y="2066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sensitivities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83096" y="237744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dV/dP and dV/dQ re-measured by perturbation on the live network at every control step.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36027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Dykstra projection of the agent's request onto the band polytope. 0.07 ms typical.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364992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gamification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3096" y="36027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stay locked until a stage needs them; every reveal is computed from the run that just happened.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590288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4517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48280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losses surfaced per driver served: 6.0 kWh coordinated against 12.0 uncoordinated.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590288"/>
            <a:ext cx="146304" cy="146304"/>
          </a:xfrm>
          <a:prstGeom prst="ellipse">
            <a:avLst/>
          </a:prstGeom>
          <a:solidFill>
            <a:srgbClr val="4FB3A2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4517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83096" y="48280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Shape-coded charts, flash rate held under the WCAG limit, reduced-motion honoured, keyboard paths throughout.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541264"/>
            <a:ext cx="10515600" cy="786384"/>
          </a:xfrm>
          <a:prstGeom prst="roundRect">
            <a:avLst>
              <a:gd name="adj" fmla="val 5814"/>
            </a:avLst>
          </a:prstGeom>
          <a:solidFill>
            <a:srgbClr val="141C25"/>
          </a:solidFill>
          <a:ln w="12700">
            <a:solidFill>
              <a:srgbClr val="2532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650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0.9131 pu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5971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Vₘᵢₙ vs 0.913 published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5650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202.68 kW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5971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loss vs 202.7 published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650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5971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ratio vs 1.271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15400" y="5650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15400" y="5971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on every commit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D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teaches, and how we know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1481328"/>
          </a:xfrm>
          <a:prstGeom prst="roundRect">
            <a:avLst>
              <a:gd name="adj" fmla="val 3704"/>
            </a:avLst>
          </a:prstGeom>
          <a:solidFill>
            <a:srgbClr val="1B2733"/>
          </a:solidFill>
          <a:ln w="12700">
            <a:solidFill>
              <a:srgbClr val="E3B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856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B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that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1883664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D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only violation rate and cost, engineers deploy the controller with the best safety score on the board — the one that served nobody, all day. It earns that record by never operating, and in the field you never find out, because reality does not hand you the counterfactual.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of __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controller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served nobody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2044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→ __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score, out of 10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and post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Usability Scale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 is average)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1540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91540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end, in a browser,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device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stated objectives, each tied to a stage and tested before and after.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138928"/>
            <a:ext cx="146304" cy="146304"/>
          </a:xfrm>
          <a:prstGeom prst="ellipse">
            <a:avLst/>
          </a:prstGeom>
          <a:solidFill>
            <a:srgbClr val="E3B2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5138928"/>
            <a:ext cx="146304" cy="146304"/>
          </a:xfrm>
          <a:prstGeom prst="ellipse">
            <a:avLst/>
          </a:prstGeom>
          <a:solidFill>
            <a:srgbClr val="E3B24F">
              <a:alpha val="91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5138928"/>
            <a:ext cx="146304" cy="146304"/>
          </a:xfrm>
          <a:prstGeom prst="ellipse">
            <a:avLst/>
          </a:prstGeom>
          <a:solidFill>
            <a:srgbClr val="E3B24F">
              <a:alpha val="8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5138928"/>
            <a:ext cx="146304" cy="146304"/>
          </a:xfrm>
          <a:prstGeom prst="ellipse">
            <a:avLst/>
          </a:prstGeom>
          <a:solidFill>
            <a:srgbClr val="E3B24F">
              <a:alpha val="7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5138928"/>
            <a:ext cx="146304" cy="146304"/>
          </a:xfrm>
          <a:prstGeom prst="ellipse">
            <a:avLst/>
          </a:prstGeom>
          <a:solidFill>
            <a:srgbClr val="E3B24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5138928"/>
            <a:ext cx="146304" cy="146304"/>
          </a:xfrm>
          <a:prstGeom prst="ellipse">
            <a:avLst/>
          </a:prstGeom>
          <a:solidFill>
            <a:srgbClr val="E3B24F">
              <a:alpha val="5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5138928"/>
            <a:ext cx="146304" cy="146304"/>
          </a:xfrm>
          <a:prstGeom prst="ellipse">
            <a:avLst/>
          </a:prstGeom>
          <a:solidFill>
            <a:srgbClr val="E3B24F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5138928"/>
            <a:ext cx="146304" cy="146304"/>
          </a:xfrm>
          <a:prstGeom prst="ellipse">
            <a:avLst/>
          </a:prstGeom>
          <a:solidFill>
            <a:srgbClr val="E4776B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5138928"/>
            <a:ext cx="146304" cy="146304"/>
          </a:xfrm>
          <a:prstGeom prst="ellipse">
            <a:avLst/>
          </a:prstGeom>
          <a:solidFill>
            <a:srgbClr val="E4776B">
              <a:alpha val="31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5138928"/>
            <a:ext cx="146304" cy="146304"/>
          </a:xfrm>
          <a:prstGeom prst="ellipse">
            <a:avLst/>
          </a:prstGeom>
          <a:solidFill>
            <a:srgbClr val="E4776B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541264"/>
            <a:ext cx="10515600" cy="804672"/>
          </a:xfrm>
          <a:prstGeom prst="roundRect">
            <a:avLst>
              <a:gd name="adj" fmla="val 5682"/>
            </a:avLst>
          </a:prstGeom>
          <a:solidFill>
            <a:srgbClr val="141C25"/>
          </a:solidFill>
          <a:ln w="12700">
            <a:solidFill>
              <a:srgbClr val="4FB3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   </a:t>
            </a:r>
            <a:pPr indent="0" marL="0">
              <a:buNone/>
            </a:pPr>
            <a:r>
              <a:rPr lang="en-US" sz="1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rifat137710.github.io/Public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400" b="1" dirty="0">
                <a:solidFill>
                  <a:srgbClr val="4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github.com/Rifat137710/Public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" y="599846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Safe Deep Reinforcement Learning for Vehicle-to-Grid Voltage Support in Weak Distribution Feeders — Md. Rifat Rahman and Sad Sami, BUET EEE, 2026. Cited as prior work, not submitted as the entry.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18 — IEEE Metaverse Grand Challenge 2026</dc:title>
  <dc:subject>PptxGenJS Presentation</dc:subject>
  <dc:creator>Md. Rifat Rahman</dc:creator>
  <cp:lastModifiedBy>Md. Rifat Rahman</cp:lastModifiedBy>
  <cp:revision>1</cp:revision>
  <dcterms:created xsi:type="dcterms:W3CDTF">2026-08-09T06:59:38Z</dcterms:created>
  <dcterms:modified xsi:type="dcterms:W3CDTF">2026-08-09T06:59:38Z</dcterms:modified>
</cp:coreProperties>
</file>